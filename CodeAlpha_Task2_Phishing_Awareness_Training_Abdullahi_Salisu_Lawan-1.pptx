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7D3FF"/>
                </a:solidFill>
                <a:latin typeface="Aptos"/>
              </a:defRPr>
            </a:pPr>
            <a:r>
              <a:t>CODEALPHA CYBER SECURITY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8595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E49"/>
                </a:solidFill>
                <a:latin typeface="Aptos"/>
              </a:defRPr>
            </a:pPr>
            <a:r>
              <a:t>TASK 2</a:t>
            </a:r>
          </a:p>
          <a:p>
            <a:pPr>
              <a:defRPr sz="3400" b="1">
                <a:solidFill>
                  <a:srgbClr val="EFF6FF"/>
                </a:solidFill>
                <a:latin typeface="Aptos"/>
              </a:defRPr>
            </a:pPr>
            <a:r>
              <a:t>PHISHING AWARENESS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7B8CD"/>
                </a:solidFill>
                <a:latin typeface="Aptos"/>
              </a:defRPr>
            </a:pPr>
            <a:r>
              <a:t>Learn to Identify • Verify • Report Phishing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519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Presented by</a:t>
            </a:r>
          </a:p>
          <a:p>
            <a:pPr>
              <a:defRPr sz="1900" b="1">
                <a:solidFill>
                  <a:srgbClr val="EFF6FF"/>
                </a:solidFill>
                <a:latin typeface="Aptos"/>
              </a:defRPr>
            </a:pPr>
            <a:r>
              <a:t>Abdullahi Salisu Lawan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6583680" cy="594360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STOP  •  THINK  •  VERIFY  • 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What Is Phishing?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 social-engineering attack designed to deceive people into unsafe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212080" cy="196596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50292" cy="196596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8366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🎣 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86000"/>
            <a:ext cx="482803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B8CD"/>
                </a:solidFill>
                <a:latin typeface="Aptos"/>
              </a:defRPr>
            </a:pPr>
            <a:r>
              <a:t>Phishing is a type of social engineering where an attacker impersonates a trusted person, company, or service to trick a victim into taking an unsafe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737360"/>
            <a:ext cx="5394960" cy="196596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737360"/>
            <a:ext cx="50292" cy="196596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88366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🎯  What attackers may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286000"/>
            <a:ext cx="501091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Passwords and login credentials</a:t>
            </a:r>
            <a:br/>
            <a:r>
              <a:t>Financial information</a:t>
            </a:r>
            <a:br/>
            <a:r>
              <a:t>Personal information</a:t>
            </a:r>
            <a:br/>
            <a:r>
              <a:t>MFA / authentication codes</a:t>
            </a:r>
            <a:br/>
            <a:r>
              <a:t>Account or system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10698480" cy="822960"/>
          </a:xfrm>
          <a:prstGeom prst="roundRect">
            <a:avLst/>
          </a:prstGeom>
          <a:solidFill>
            <a:srgbClr val="152339"/>
          </a:solidFill>
          <a:ln>
            <a:solidFill>
              <a:srgbClr val="FFB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Phishing often targets human trust and decision-making rather than directly attacking technology.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94960"/>
            <a:ext cx="2331720" cy="594360"/>
          </a:xfrm>
          <a:prstGeom prst="roundRect">
            <a:avLst/>
          </a:prstGeom>
          <a:solidFill>
            <a:srgbClr val="101B2D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D3FF"/>
                </a:solidFill>
                <a:latin typeface="Aptos"/>
              </a:defRPr>
            </a:pPr>
            <a:r>
              <a:t>IMPERSONATE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48640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B8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5394960"/>
            <a:ext cx="2331720" cy="594360"/>
          </a:xfrm>
          <a:prstGeom prst="roundRect">
            <a:avLst/>
          </a:prstGeom>
          <a:solidFill>
            <a:srgbClr val="101B2D"/>
          </a:solidFill>
          <a:ln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B8DFF"/>
                </a:solidFill>
                <a:latin typeface="Aptos"/>
              </a:defRPr>
            </a:pPr>
            <a:r>
              <a:t>CREATE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48640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B8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5394960"/>
            <a:ext cx="2331720" cy="594360"/>
          </a:xfrm>
          <a:prstGeom prst="roundRect">
            <a:avLst/>
          </a:prstGeom>
          <a:solidFill>
            <a:srgbClr val="101B2D"/>
          </a:solidFill>
          <a:ln>
            <a:solidFill>
              <a:srgbClr val="FFB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BE49"/>
                </a:solidFill>
                <a:latin typeface="Aptos"/>
              </a:defRPr>
            </a:pPr>
            <a:r>
              <a:t>CREATE URGENCY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48640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7B8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5394960"/>
            <a:ext cx="2331720" cy="594360"/>
          </a:xfrm>
          <a:prstGeom prst="roundRect">
            <a:avLst/>
          </a:prstGeom>
          <a:solidFill>
            <a:srgbClr val="101B2D"/>
          </a:solidFill>
          <a:ln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5B69"/>
                </a:solidFill>
                <a:latin typeface="Aptos"/>
              </a:defRPr>
            </a:pPr>
            <a:r>
              <a:t>TRICK THE VICTIM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Common Types of Phishing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Different channels and targets — similar goal: manipulate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212080" cy="123444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" cy="123444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📧  Email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48280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Mass-sent fraudulent emails designed to trigger clicks, replies, downloads, or data disclosure.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5212080" cy="123444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50292" cy="123444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9222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🎯  Spear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94560"/>
            <a:ext cx="48280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Targeted and personalized phishing aimed at a specific person or organization.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27248"/>
            <a:ext cx="5212080" cy="123444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27248"/>
            <a:ext cx="50292" cy="123444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735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📱  Smishing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75887"/>
            <a:ext cx="48280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Phishing delivered through SMS or messaging applications.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27248"/>
            <a:ext cx="5212080" cy="123444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127248"/>
            <a:ext cx="50292" cy="123444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2735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☎️  Vishing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675887"/>
            <a:ext cx="48280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Phishing conducted through voice calls and impersonation.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08576"/>
            <a:ext cx="5212080" cy="123444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08576"/>
            <a:ext cx="50292" cy="1234440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7548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🏢  Whaling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157216"/>
            <a:ext cx="48280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Highly targeted phishing aimed at senior or high-value individuals.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608576"/>
            <a:ext cx="5212080" cy="123444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608576"/>
            <a:ext cx="50292" cy="123444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7548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💼  Business Email Compromise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5157216"/>
            <a:ext cx="48280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Impersonation of executives, employees, or suppliers to manipulate business actions.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89320"/>
            <a:ext cx="10698480" cy="365760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Different channels — same objective: manipulate trust and cause an unsafe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Social Engineering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Attackers exploit emotions, authority, trust, and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162763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" cy="1627632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⏰  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“Act now or your account will be suspended.”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29000" cy="162763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50292" cy="1627632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😨  Fear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Threats or warnings create panic.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429000" cy="162763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645920"/>
            <a:ext cx="50292" cy="162763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👔 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Pretends to be a manager, bank, administrator, or official.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62763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50292" cy="162763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66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👀  Curiosity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69079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Unexpected claims encourage clicking.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520439"/>
            <a:ext cx="3429000" cy="162763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520439"/>
            <a:ext cx="50292" cy="1627632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666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🎁  Rewards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69079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Prizes, refunds, jobs, or benefits become bait.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520439"/>
            <a:ext cx="3429000" cy="162763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520439"/>
            <a:ext cx="50292" cy="162763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66674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🎭  Impersonation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069079"/>
            <a:ext cx="304495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Trusted names, branding, voices, or writing styles are copied.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623560"/>
            <a:ext cx="10698480" cy="566928"/>
          </a:xfrm>
          <a:prstGeom prst="roundRect">
            <a:avLst/>
          </a:prstGeom>
          <a:solidFill>
            <a:srgbClr val="152339"/>
          </a:solidFill>
          <a:ln>
            <a:solidFill>
              <a:srgbClr val="FFB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When a message creates strong emotion: PAUSE and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How to Identify a Phishing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Check the message before clicking, replying, or opening anything.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212080" cy="111556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" cy="111556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Suspicious sender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Unusual spelling, extra characters, or unfamiliar domain.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5212080" cy="111556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50292" cy="1115568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9222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Urgent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9456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Pressure, threats, or artificial deadlines.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71800"/>
            <a:ext cx="5212080" cy="111556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50292" cy="111556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1181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Unexpected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52044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Verify the destination before opening.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971800"/>
            <a:ext cx="5212080" cy="111556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971800"/>
            <a:ext cx="50292" cy="111556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181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Sensitive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52044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Unexpected requests for passwords, OTPs, or financial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97680"/>
            <a:ext cx="5212080" cy="111556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50292" cy="1115568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4439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Unexpected attachments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84632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Treat unknown or unexpected files as untrusted.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297680"/>
            <a:ext cx="5212080" cy="111556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297680"/>
            <a:ext cx="50292" cy="1115568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4439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Poor wording / offers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846320"/>
            <a:ext cx="4828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Odd grammar, formatting, or too-good-to-be-true claims.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806440"/>
            <a:ext cx="10698480" cy="475488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STOP → CHECK THE SENDER → VERIFY THE REQUEST → THEN DECIDE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Phishing Email: Red-Flag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 fictional training example — designed for awareness, not credential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486400" cy="4160520"/>
          </a:xfrm>
          <a:prstGeom prst="roundRect">
            <a:avLst/>
          </a:prstGeom>
          <a:solidFill>
            <a:srgbClr val="101B2D"/>
          </a:solidFill>
          <a:ln>
            <a:solidFill>
              <a:srgbClr val="25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spcAft>
                <a:spcPts val="900"/>
              </a:spcAft>
              <a:defRPr sz="1000">
                <a:solidFill>
                  <a:srgbClr val="FF5B69"/>
                </a:solidFill>
                <a:latin typeface="Aptos Mono"/>
              </a:defRPr>
            </a:pPr>
            <a:r>
              <a:t>From: Security Alert &lt;security-alert@example-security.test&gt;</a:t>
            </a:r>
          </a:p>
          <a:p>
            <a:pPr>
              <a:spcAft>
                <a:spcPts val="900"/>
              </a:spcAft>
              <a:defRPr sz="1000">
                <a:solidFill>
                  <a:srgbClr val="FFBE49"/>
                </a:solidFill>
                <a:latin typeface="Aptos Mono"/>
              </a:defRPr>
            </a:pPr>
            <a:r>
              <a:t>Subject: URGENT! Your account will be suspended!</a:t>
            </a:r>
          </a:p>
          <a:p>
            <a:pPr>
              <a:spcAft>
                <a:spcPts val="900"/>
              </a:spcAft>
              <a:defRPr sz="1100">
                <a:solidFill>
                  <a:srgbClr val="EFF6FF"/>
                </a:solidFill>
                <a:latin typeface="Aptos Mono"/>
              </a:defRPr>
            </a:pPr>
            <a:r>
              <a:t>Body: Dear User,</a:t>
            </a:r>
            <a:br/>
            <a:br/>
            <a:r>
              <a:t>We detected unusual activity on your account.</a:t>
            </a:r>
            <a:br/>
            <a:br/>
            <a:r>
              <a:t>You must verify your account immediately or your account will be suspended.</a:t>
            </a:r>
            <a:br/>
            <a:br/>
            <a:r>
              <a:t>[ VERIFY ACCOUNT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91440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0292" cy="91440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79222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Urgency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94560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Creates pressure and discourages careful thinking.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97480"/>
            <a:ext cx="5029200" cy="91440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97480"/>
            <a:ext cx="50292" cy="91440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84378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Generic greeting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246120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“Dear User” provides little meaningful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49039"/>
            <a:ext cx="5029200" cy="91440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749039"/>
            <a:ext cx="50292" cy="91440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89534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Threat + unexpected 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4297679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Account suspension pushes immediate verification.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00600"/>
            <a:ext cx="5029200" cy="91440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800600"/>
            <a:ext cx="50292" cy="91440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94690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🚩  Suspicious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5349240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Verify the destination independently before opening.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89320"/>
            <a:ext cx="10698480" cy="347472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Correct response: Do not click → Verify independently → Report if suspicious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How to Identify a Fake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Don't trust appearance alone — verify the address and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290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0292" cy="132588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46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🌐  Check the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48840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Look for misspellings, extra words, unusual characters, or misleading domains.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4290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50292" cy="13258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46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🔎  Check the full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48840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Examine the complete address instead of relying on a logo or page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00200"/>
            <a:ext cx="34290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600200"/>
            <a:ext cx="50292" cy="132588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46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🔗  Treat links carefully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48840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Avoid unexpected links; use a known bookmark or manually enter the official address.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50292" cy="13258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3192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🔒  HTTPS ≠ legitimacy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3721607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HTTPS encrypts the connection, but does not prove who operates the site.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50292" cy="13258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3192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🔐  Watch login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721607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Be cautious when an unexpected page asks for passwords, OTPs, or payment details.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3258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50292" cy="1325880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31927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✅  Verify independently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721607"/>
            <a:ext cx="30449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If unsure, close the page and access the service through a trusted route.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4800600"/>
            <a:ext cx="4754880" cy="960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" y="4800600"/>
            <a:ext cx="50292" cy="960120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4946904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Training example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349240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https://secure.example-bank.test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800600"/>
            <a:ext cx="4754880" cy="960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800600"/>
            <a:ext cx="50292" cy="96012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946904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✕  Training example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349240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https://secure.example-bank-login.test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989320"/>
            <a:ext cx="10698480" cy="347472"/>
          </a:xfrm>
          <a:prstGeom prst="roundRect">
            <a:avLst/>
          </a:prstGeom>
          <a:solidFill>
            <a:srgbClr val="152339"/>
          </a:solidFill>
          <a:ln>
            <a:solidFill>
              <a:srgbClr val="FFB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Key lesson: A professional-looking website can still be malicious.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Smishing &amp; Vishing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Phishing can happen through messages and phone calls — not only email.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25780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" cy="338328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📱  Smishing — SMS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487375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Attackers send fraudulent text messages designed to make you:</a:t>
            </a:r>
            <a:br/>
            <a:br/>
            <a:r>
              <a:t>• Click a malicious link</a:t>
            </a:r>
            <a:br/>
            <a:r>
              <a:t>• Download an app or file</a:t>
            </a:r>
            <a:br/>
            <a:r>
              <a:t>• Provide sensitive information</a:t>
            </a:r>
            <a:br/>
            <a:r>
              <a:t>• Reply to the attacker</a:t>
            </a:r>
            <a:br/>
            <a:br/>
            <a:r>
              <a:t>Example: “Your delivery could not be completed. Confirm your address within 2 hours: [link]”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257800" cy="33832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0292" cy="33832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7922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☎️  Vishing — Voice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94560"/>
            <a:ext cx="487375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Attackers use phone calls to impersonate trusted people or organizations.</a:t>
            </a:r>
            <a:br/>
            <a:br/>
            <a:r>
              <a:t>Example: “This is the security department. We detected suspicious activity. Please provide the verification code we sent.”</a:t>
            </a:r>
            <a:br/>
            <a:br/>
            <a:r>
              <a:t>Red flags: pressure, impersonation, OTP requests, threats.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Never provide passwords, OTPs, or sensitive information because someone pressured you by text or 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How to Protect Yourself from 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Build habits that slow down the attacker's social-engineering advantage.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0292" cy="1024128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465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🔎  Verify before trusting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4884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Check sender, domain, URL, and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50292" cy="102412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465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🖱️  Don't click unexpected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4884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Use a known bookmark or manually enter the official address.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50292" cy="1024128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8094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🔐  Enable MFA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38328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Add another layer of protection if a password is compromised.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83464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834640"/>
            <a:ext cx="50292" cy="102412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98094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🔑  Use unique passwords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38328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Avoid password reuse; use a password manager where appropriate.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6908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069080"/>
            <a:ext cx="50292" cy="1024128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2153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📱  Never share OTPs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61772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Treat authentication codes as private.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06908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069080"/>
            <a:ext cx="50292" cy="1024128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42153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📢  Report suspicious 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61772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Use your organization's established reporting process.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303520"/>
            <a:ext cx="5212080" cy="1024128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303520"/>
            <a:ext cx="50292" cy="1024128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44982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🔄  Keep software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5852160"/>
            <a:ext cx="4828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Update your OS, browser, apps, and security tools.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89320"/>
            <a:ext cx="10698480" cy="347472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Golden rule: STOP → THINK → VERIFY →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What If You Clicked a Phishing Link?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Don't panic — act quickly and use your organization's incident-response process.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" cy="15544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1 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Don't enter more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50292" cy="155448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2  DISCONNECT IF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If malware is suspected, disconnect the device and follow your security procedure.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645920"/>
            <a:ext cx="50292" cy="155448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3 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Stop interacting with the suspicious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50292" cy="1554480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4 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2335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If credentials were entered, change the compromised password through the legitimate service.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747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474720"/>
            <a:ext cx="50292" cy="15544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5 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2335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Notify IT/security or use the official reporting process.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4747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474720"/>
            <a:ext cx="50292" cy="155448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6  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02335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Watch for unusual logins, password changes, or transactions.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532120"/>
            <a:ext cx="10698480" cy="685800"/>
          </a:xfrm>
          <a:prstGeom prst="roundRect">
            <a:avLst/>
          </a:prstGeom>
          <a:solidFill>
            <a:srgbClr val="152339"/>
          </a:solidFill>
          <a:ln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Fast reporting can reduce the impact of an incident.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Practical Phishing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Test your judgment before revealing the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577840" cy="40690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0292" cy="40690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5212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📧  Fictional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5193792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From: Account Support &lt;support@example-security.test&gt;</a:t>
            </a:r>
            <a:br/>
            <a:r>
              <a:t>Subject: ⚠️ URGENT — Account Verification Required</a:t>
            </a:r>
            <a:br/>
            <a:br/>
            <a:r>
              <a:t>Dear Customer,</a:t>
            </a:r>
            <a:br/>
            <a:br/>
            <a:r>
              <a:t>We detected unusual activity on your account.</a:t>
            </a:r>
            <a:br/>
            <a:br/>
            <a:r>
              <a:t>Your account will be suspended today unless you verify your information immediately.</a:t>
            </a:r>
            <a:br/>
            <a:br/>
            <a:r>
              <a:t>[ VERIFY NOW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0200"/>
            <a:ext cx="4800600" cy="960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600200"/>
            <a:ext cx="50292" cy="96012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746504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❌  A — Click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2148840"/>
            <a:ext cx="4416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It looks like a security message.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743200"/>
            <a:ext cx="4800600" cy="960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743200"/>
            <a:ext cx="50292" cy="960120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2889504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✅  B — Don't 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3291840"/>
            <a:ext cx="4416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Verify the request independently first.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886200"/>
            <a:ext cx="4800600" cy="960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3886200"/>
            <a:ext cx="50292" cy="96012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4032504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⚠️  C — Reply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434840"/>
            <a:ext cx="4416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A7B8CD"/>
                </a:solidFill>
                <a:latin typeface="Aptos"/>
              </a:defRPr>
            </a:pPr>
            <a:r>
              <a:t>Ask the sender whether it is legitimate.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52160"/>
            <a:ext cx="10698480" cy="457200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Correct answer: B — Verify independently. Red flags: urgency, threat, generic context, unexpected verification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Phishing Red Flags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Use these questions before interacting with a suspicious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0292" cy="950976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465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👤  Sender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48840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Do I recognize the complete sender address?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50292" cy="950976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465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🌐 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48840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Does the meaningful domain match the organization I expect?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15768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15768"/>
            <a:ext cx="50292" cy="950976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862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🔗 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264408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Where does the link actually lead?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715768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15768"/>
            <a:ext cx="50292" cy="950976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862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⏰  Urgency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64408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Is the message pressuring me to act immediately?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31335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31335"/>
            <a:ext cx="50292" cy="950976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97763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🔐  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379975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Is it asking for sensitive information?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31335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831335"/>
            <a:ext cx="50292" cy="950976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977639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📎  Attachment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379975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Was I expecting this file?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46904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946904"/>
            <a:ext cx="50292" cy="950976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509320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🧠 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5495544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Was I actually expecting this request?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946904"/>
            <a:ext cx="5212080" cy="950976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4946904"/>
            <a:ext cx="50292" cy="950976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09320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📞 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495544"/>
            <a:ext cx="4828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7B8CD"/>
                </a:solidFill>
                <a:latin typeface="Aptos"/>
              </a:defRPr>
            </a:pPr>
            <a:r>
              <a:t>Can I confirm it through another trusted channel?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989320"/>
            <a:ext cx="10698480" cy="347472"/>
          </a:xfrm>
          <a:prstGeom prst="roundRect">
            <a:avLst/>
          </a:prstGeom>
          <a:solidFill>
            <a:srgbClr val="152339"/>
          </a:solidFill>
          <a:ln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If something feels wrong: STOP → DON'T CLICK → VERIFY →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Real-World Impact of 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 successful deception can become the starting point for a larger security incident.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66360" cy="342900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0292" cy="342900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👤  Individuals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94560"/>
            <a:ext cx="478231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B8CD"/>
                </a:solidFill>
                <a:latin typeface="Aptos"/>
              </a:defRPr>
            </a:pPr>
            <a:r>
              <a:t>• Account takeover</a:t>
            </a:r>
            <a:br/>
            <a:r>
              <a:t>• Identity theft</a:t>
            </a:r>
            <a:br/>
            <a:r>
              <a:t>• Financial loss</a:t>
            </a:r>
            <a:br/>
            <a:r>
              <a:t>• Privacy violations</a:t>
            </a:r>
            <a:br/>
            <a:r>
              <a:t>• Stolen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166360" cy="342900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0292" cy="342900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79222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🏢  Organizations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94560"/>
            <a:ext cx="478231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B8CD"/>
                </a:solidFill>
                <a:latin typeface="Aptos"/>
              </a:defRPr>
            </a:pPr>
            <a:r>
              <a:t>• Unauthorized access</a:t>
            </a:r>
            <a:br/>
            <a:r>
              <a:t>• Financial fraud</a:t>
            </a:r>
            <a:br/>
            <a:r>
              <a:t>• Data exposure</a:t>
            </a:r>
            <a:br/>
            <a:r>
              <a:t>• Business disruption</a:t>
            </a:r>
            <a:br/>
            <a:r>
              <a:t>• Reputation damage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10698480" cy="685800"/>
          </a:xfrm>
          <a:prstGeom prst="roundRect">
            <a:avLst/>
          </a:prstGeom>
          <a:solidFill>
            <a:srgbClr val="152339"/>
          </a:solidFill>
          <a:ln>
            <a:solidFill>
              <a:srgbClr val="FFB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Cybersecurity is not only about protecting computers — it is also about protecting people.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Phishing Awareness 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Five questions to test the most important concepts.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212080" cy="98755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50292" cy="98755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❓  01  What is phishing?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21408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A7B8CD"/>
                </a:solidFill>
                <a:latin typeface="Aptos"/>
              </a:defRPr>
            </a:pPr>
            <a:r>
              <a:t>A. File compression   B. Social engineering attack   C. Antivirus   D. Network cable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72768"/>
            <a:ext cx="5212080" cy="98755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72768"/>
            <a:ext cx="50292" cy="98755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19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❓  02  Which is a common warning sign?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121408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A7B8CD"/>
                </a:solidFill>
                <a:latin typeface="Aptos"/>
              </a:defRPr>
            </a:pPr>
            <a:r>
              <a:t>A. Unexpected urgency   B. Normal update   C. Known bookmark   D. Scheduled meeting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5212080" cy="98755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43200"/>
            <a:ext cx="50292" cy="98755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8895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❓  03  Does HTTPS guarantee legitimacy?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291840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A7B8CD"/>
                </a:solidFill>
                <a:latin typeface="Aptos"/>
              </a:defRPr>
            </a:pPr>
            <a:r>
              <a:t>A. Yes   B. 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743200"/>
            <a:ext cx="5212080" cy="98755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743200"/>
            <a:ext cx="50292" cy="98755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88950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❓  04  What should you do with an unexpected OTP request?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291840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A7B8CD"/>
                </a:solidFill>
                <a:latin typeface="Aptos"/>
              </a:defRPr>
            </a:pPr>
            <a:r>
              <a:t>A. Send it   B. Post it   C. Refuse and verify independently   D. Forward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13632"/>
            <a:ext cx="5212080" cy="987552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913632"/>
            <a:ext cx="50292" cy="98755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059936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❓  05  What if you entered your password into a phishing site?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462272"/>
            <a:ext cx="48280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>
                <a:solidFill>
                  <a:srgbClr val="A7B8CD"/>
                </a:solidFill>
                <a:latin typeface="Aptos"/>
              </a:defRPr>
            </a:pPr>
            <a:r>
              <a:t>A. Ignore it   B. Change it through the legitimate service and report   C. Give another password   D. Continue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97880"/>
            <a:ext cx="10698480" cy="411480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Reveal the answers after the audience votes — then explain why.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Six habits that turn awareness into practical defense.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" cy="15544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Don't let urgency force a quick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50292" cy="155448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Check sender, domain, URL, attachment, and request.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645920"/>
            <a:ext cx="50292" cy="15544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922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THINK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Ask: Was I expecting this?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50292" cy="1554480"/>
          </a:xfrm>
          <a:prstGeom prst="rect">
            <a:avLst/>
          </a:prstGeom>
          <a:solidFill>
            <a:srgbClr val="4A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2335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Confirm unusual requests through a separate trusted channel.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4747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474720"/>
            <a:ext cx="50292" cy="155448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02335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Use MFA, unique passwords, updates, and security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474720"/>
            <a:ext cx="3429000" cy="155448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474720"/>
            <a:ext cx="50292" cy="1554480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6210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✓ 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02335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Report suspicious messages and incidents quickly.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532120"/>
            <a:ext cx="10698480" cy="685800"/>
          </a:xfrm>
          <a:prstGeom prst="roundRect">
            <a:avLst/>
          </a:prstGeom>
          <a:solidFill>
            <a:srgbClr val="152339"/>
          </a:solidFill>
          <a:ln>
            <a:solidFill>
              <a:srgbClr val="3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Think before you click.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FF6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7B8CD"/>
                </a:solidFill>
                <a:latin typeface="Aptos"/>
              </a:defRPr>
            </a:pPr>
            <a:r>
              <a:t>Awareness adds a critical human layer to cybersecurity.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37560" cy="3246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0292" cy="3246120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📚  We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94560"/>
            <a:ext cx="295351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🎣 What phishing is</a:t>
            </a:r>
            <a:br/>
            <a:r>
              <a:t>📧 Email warning signs</a:t>
            </a:r>
            <a:br/>
            <a:r>
              <a:t>🌐 Fake website indicators</a:t>
            </a:r>
            <a:br/>
            <a:r>
              <a:t>📱 Smishing &amp; vishing</a:t>
            </a:r>
            <a:br/>
            <a:r>
              <a:t>🧠 Social engineering</a:t>
            </a:r>
            <a:br/>
            <a:r>
              <a:t>🚩 Red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337560" cy="3246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50292" cy="324612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79222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🧪  We practiced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194560"/>
            <a:ext cx="295351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B8CD"/>
                </a:solidFill>
                <a:latin typeface="Aptos"/>
              </a:defRPr>
            </a:pPr>
            <a:r>
              <a:t>🧪 Fictional scenarios</a:t>
            </a:r>
            <a:br/>
            <a:r>
              <a:t>🔎 Message analysis</a:t>
            </a:r>
            <a:br/>
            <a:r>
              <a:t>🌐 URL inspection</a:t>
            </a:r>
            <a:br/>
            <a:r>
              <a:t>🛡️ Prevention habits</a:t>
            </a:r>
            <a:br/>
            <a:r>
              <a:t>🚨 Incident response</a:t>
            </a:r>
            <a:br/>
            <a:r>
              <a:t>🧠 Knowledge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337560" cy="3246120"/>
          </a:xfrm>
          <a:prstGeom prst="roundRect">
            <a:avLst/>
          </a:prstGeom>
          <a:solidFill>
            <a:srgbClr val="101B2D"/>
          </a:solidFill>
          <a:ln>
            <a:solidFill>
              <a:srgbClr val="1D3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50292" cy="3246120"/>
          </a:xfrm>
          <a:prstGeom prst="rect">
            <a:avLst/>
          </a:prstGeom>
          <a:solidFill>
            <a:srgbClr val="FFB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792224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🔐  We 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194560"/>
            <a:ext cx="2953512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7B8CD"/>
                </a:solidFill>
                <a:latin typeface="Aptos"/>
              </a:defRPr>
            </a:pPr>
            <a:r>
              <a:t>STOP</a:t>
            </a:r>
            <a:br/>
            <a:r>
              <a:t>THINK</a:t>
            </a:r>
            <a:br/>
            <a:r>
              <a:t>VERIFY</a:t>
            </a:r>
            <a:br/>
            <a:r>
              <a:t>REPORT</a:t>
            </a:r>
            <a:br/>
            <a:br/>
            <a:r>
              <a:t>Cybersecurity is a shared responsibility.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40"/>
            <a:ext cx="10698480" cy="777240"/>
          </a:xfrm>
          <a:prstGeom prst="roundRect">
            <a:avLst/>
          </a:prstGeom>
          <a:solidFill>
            <a:srgbClr val="152339"/>
          </a:solidFill>
          <a:ln>
            <a:solidFill>
              <a:srgbClr val="4AD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F6FF"/>
                </a:solidFill>
                <a:latin typeface="Aptos"/>
              </a:defRPr>
            </a:pPr>
            <a:r>
              <a:t>People are an important security layer. Awareness helps us make safer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3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7B8CD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182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7D3FF"/>
                </a:solidFill>
                <a:latin typeface="Aptos Mono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15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7D3FF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EFF6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CodeAlpha Task 2 — Phishing Awareness Training</dc:title>
  <dc:subject>Cybersecurity awareness training</dc:subject>
  <dc:creator>Abdullahi Salisu Lawan</dc:creator>
  <cp:keywords>CodeAlpha, Cybersecurity, Phishing Awareness, Social Engineering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